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Liberation Sans Bold" charset="1" panose="020B07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267329" y="-216749"/>
            <a:ext cx="11458128" cy="2346344"/>
          </a:xfrm>
          <a:custGeom>
            <a:avLst/>
            <a:gdLst/>
            <a:ahLst/>
            <a:cxnLst/>
            <a:rect r="r" b="b" t="t" l="l"/>
            <a:pathLst>
              <a:path h="2346344" w="11458128">
                <a:moveTo>
                  <a:pt x="0" y="0"/>
                </a:moveTo>
                <a:lnTo>
                  <a:pt x="11458128" y="0"/>
                </a:lnTo>
                <a:lnTo>
                  <a:pt x="11458128" y="2346344"/>
                </a:lnTo>
                <a:lnTo>
                  <a:pt x="0" y="2346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16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091161" y="4394125"/>
            <a:ext cx="14105677" cy="5347343"/>
            <a:chOff x="0" y="0"/>
            <a:chExt cx="3715076" cy="14083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15076" cy="1408354"/>
            </a:xfrm>
            <a:custGeom>
              <a:avLst/>
              <a:gdLst/>
              <a:ahLst/>
              <a:cxnLst/>
              <a:rect r="r" b="b" t="t" l="l"/>
              <a:pathLst>
                <a:path h="1408354" w="3715076">
                  <a:moveTo>
                    <a:pt x="27991" y="0"/>
                  </a:moveTo>
                  <a:lnTo>
                    <a:pt x="3687084" y="0"/>
                  </a:lnTo>
                  <a:cubicBezTo>
                    <a:pt x="3694508" y="0"/>
                    <a:pt x="3701628" y="2949"/>
                    <a:pt x="3706877" y="8198"/>
                  </a:cubicBezTo>
                  <a:cubicBezTo>
                    <a:pt x="3712127" y="13448"/>
                    <a:pt x="3715076" y="20568"/>
                    <a:pt x="3715076" y="27991"/>
                  </a:cubicBezTo>
                  <a:lnTo>
                    <a:pt x="3715076" y="1380362"/>
                  </a:lnTo>
                  <a:cubicBezTo>
                    <a:pt x="3715076" y="1387786"/>
                    <a:pt x="3712127" y="1394906"/>
                    <a:pt x="3706877" y="1400155"/>
                  </a:cubicBezTo>
                  <a:cubicBezTo>
                    <a:pt x="3701628" y="1405405"/>
                    <a:pt x="3694508" y="1408354"/>
                    <a:pt x="3687084" y="1408354"/>
                  </a:cubicBezTo>
                  <a:lnTo>
                    <a:pt x="27991" y="1408354"/>
                  </a:lnTo>
                  <a:cubicBezTo>
                    <a:pt x="20568" y="1408354"/>
                    <a:pt x="13448" y="1405405"/>
                    <a:pt x="8198" y="1400155"/>
                  </a:cubicBezTo>
                  <a:cubicBezTo>
                    <a:pt x="2949" y="1394906"/>
                    <a:pt x="0" y="1387786"/>
                    <a:pt x="0" y="1380362"/>
                  </a:cubicBezTo>
                  <a:lnTo>
                    <a:pt x="0" y="27991"/>
                  </a:lnTo>
                  <a:cubicBezTo>
                    <a:pt x="0" y="20568"/>
                    <a:pt x="2949" y="13448"/>
                    <a:pt x="8198" y="8198"/>
                  </a:cubicBezTo>
                  <a:cubicBezTo>
                    <a:pt x="13448" y="2949"/>
                    <a:pt x="20568" y="0"/>
                    <a:pt x="279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715076" cy="144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607729" y="4500643"/>
            <a:ext cx="12627994" cy="320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1"/>
              </a:lnSpc>
            </a:pPr>
            <a:r>
              <a:rPr lang="en-US" sz="5021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SUBJECT: BLOCK-CHAIN TECHNOLOGY</a:t>
            </a:r>
          </a:p>
          <a:p>
            <a:pPr algn="just">
              <a:lnSpc>
                <a:spcPts val="5021"/>
              </a:lnSpc>
            </a:pPr>
            <a:r>
              <a:rPr lang="en-US" sz="5021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SUB-CODE: BCS613A</a:t>
            </a:r>
          </a:p>
          <a:p>
            <a:pPr algn="just">
              <a:lnSpc>
                <a:spcPts val="5021"/>
              </a:lnSpc>
            </a:pPr>
            <a:r>
              <a:rPr lang="en-US" sz="5021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SEMESTER: 6th</a:t>
            </a:r>
          </a:p>
          <a:p>
            <a:pPr algn="just">
              <a:lnSpc>
                <a:spcPts val="5021"/>
              </a:lnSpc>
            </a:pPr>
            <a:r>
              <a:rPr lang="en-US" sz="5021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SECTION:  BHASKARA</a:t>
            </a:r>
          </a:p>
          <a:p>
            <a:pPr algn="just">
              <a:lnSpc>
                <a:spcPts val="5021"/>
              </a:lnSpc>
            </a:pPr>
            <a:r>
              <a:rPr lang="en-US" b="true" sz="5021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PRESENTED BY: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88300" y="2015295"/>
            <a:ext cx="14911401" cy="238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6776" spc="47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BLOCK</a:t>
            </a:r>
            <a:r>
              <a:rPr lang="en-US" b="true" sz="6776" spc="47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CHAIN-BASED CROWDFUNDING PLATFORM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72069" y="6972547"/>
            <a:ext cx="8627631" cy="266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KOUSTAV DUTTA (1VE23CS082)</a:t>
            </a:r>
          </a:p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MAYANK SINGH (1VE23CS100)</a:t>
            </a:r>
          </a:p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MOHIT PAL (1VE23CS106)</a:t>
            </a:r>
          </a:p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NEELOTPAL GHOSH(1VE23CS114)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823725" y="4395868"/>
            <a:ext cx="14873464" cy="15397241"/>
            <a:chOff x="0" y="0"/>
            <a:chExt cx="19831285" cy="20529655"/>
          </a:xfrm>
        </p:grpSpPr>
        <p:grpSp>
          <p:nvGrpSpPr>
            <p:cNvPr name="Group 4" id="4"/>
            <p:cNvGrpSpPr/>
            <p:nvPr/>
          </p:nvGrpSpPr>
          <p:grpSpPr>
            <a:xfrm rot="-2489216">
              <a:off x="7778563" y="6647513"/>
              <a:ext cx="10267126" cy="9279420"/>
              <a:chOff x="0" y="0"/>
              <a:chExt cx="2028074" cy="18329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28074" cy="1832972"/>
              </a:xfrm>
              <a:custGeom>
                <a:avLst/>
                <a:gdLst/>
                <a:ahLst/>
                <a:cxnLst/>
                <a:rect r="r" b="b" t="t" l="l"/>
                <a:pathLst>
                  <a:path h="1832972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1832972"/>
                    </a:lnTo>
                    <a:lnTo>
                      <a:pt x="0" y="1832972"/>
                    </a:lnTo>
                    <a:close/>
                  </a:path>
                </a:pathLst>
              </a:custGeom>
              <a:solidFill>
                <a:srgbClr val="34609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28074" cy="18710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2489216">
              <a:off x="4782080" y="1101778"/>
              <a:ext cx="10267126" cy="18326099"/>
              <a:chOff x="0" y="0"/>
              <a:chExt cx="2028074" cy="361997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8074" cy="3619970"/>
              </a:xfrm>
              <a:custGeom>
                <a:avLst/>
                <a:gdLst/>
                <a:ahLst/>
                <a:cxnLst/>
                <a:rect r="r" b="b" t="t" l="l"/>
                <a:pathLst>
                  <a:path h="3619970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3619970"/>
                    </a:lnTo>
                    <a:lnTo>
                      <a:pt x="0" y="3619970"/>
                    </a:lnTo>
                    <a:close/>
                  </a:path>
                </a:pathLst>
              </a:custGeom>
              <a:solidFill>
                <a:srgbClr val="5EA6E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28074" cy="3658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2489216">
              <a:off x="5570710" y="7481641"/>
              <a:ext cx="10267126" cy="2630157"/>
              <a:chOff x="0" y="0"/>
              <a:chExt cx="2028074" cy="5195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28074" cy="519537"/>
              </a:xfrm>
              <a:custGeom>
                <a:avLst/>
                <a:gdLst/>
                <a:ahLst/>
                <a:cxnLst/>
                <a:rect r="r" b="b" t="t" l="l"/>
                <a:pathLst>
                  <a:path h="519537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519537"/>
                    </a:lnTo>
                    <a:lnTo>
                      <a:pt x="0" y="519537"/>
                    </a:lnTo>
                    <a:close/>
                  </a:path>
                </a:pathLst>
              </a:custGeom>
              <a:solidFill>
                <a:srgbClr val="3F70B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28074" cy="5576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5627689" y="4532956"/>
            <a:ext cx="11631611" cy="462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874" indent="-392937" lvl="1">
              <a:lnSpc>
                <a:spcPts val="3639"/>
              </a:lnSpc>
              <a:buFont typeface="Arial"/>
              <a:buChar char="•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owdfunding is widely used for startups, social causes, and innovation</a:t>
            </a:r>
          </a:p>
          <a:p>
            <a:pPr algn="l" marL="785874" indent="-392937" lvl="1">
              <a:lnSpc>
                <a:spcPts val="3639"/>
              </a:lnSpc>
              <a:buFont typeface="Arial"/>
              <a:buChar char="•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Traditional platforms (central</a:t>
            </a: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ized) suffer from:</a:t>
            </a:r>
          </a:p>
          <a:p>
            <a:pPr algn="l" marL="1571748" indent="-523916" lvl="2">
              <a:lnSpc>
                <a:spcPts val="3639"/>
              </a:lnSpc>
              <a:buFont typeface="Arial"/>
              <a:buChar char="⚬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Lack of transparency in fund usage</a:t>
            </a:r>
          </a:p>
          <a:p>
            <a:pPr algn="l" marL="1571748" indent="-523916" lvl="2">
              <a:lnSpc>
                <a:spcPts val="3639"/>
              </a:lnSpc>
              <a:buFont typeface="Arial"/>
              <a:buChar char="⚬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Risk of fraud and fake campaigns</a:t>
            </a:r>
          </a:p>
          <a:p>
            <a:pPr algn="l" marL="1571748" indent="-523916" lvl="2">
              <a:lnSpc>
                <a:spcPts val="3639"/>
              </a:lnSpc>
              <a:buFont typeface="Arial"/>
              <a:buChar char="⚬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High platform fees and control by intermediaries</a:t>
            </a:r>
          </a:p>
          <a:p>
            <a:pPr algn="l" marL="785874" indent="-392937" lvl="1">
              <a:lnSpc>
                <a:spcPts val="3639"/>
              </a:lnSpc>
              <a:buFont typeface="Arial"/>
              <a:buChar char="•"/>
            </a:pP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Users cannot verify how funds are actually used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b="true" sz="3639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  <a:r>
              <a:rPr lang="en-US" sz="363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Trust and transparency are missing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AutoShape 14" id="14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627689" y="1508825"/>
            <a:ext cx="10329387" cy="288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6"/>
              </a:lnSpc>
            </a:pPr>
            <a:r>
              <a:rPr lang="en-US" b="true" sz="8211" spc="57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INTRODUCTION &amp;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91173" y="8674011"/>
            <a:ext cx="968127" cy="102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01</a:t>
            </a:r>
          </a:p>
        </p:txBody>
      </p:sp>
      <p:grpSp>
        <p:nvGrpSpPr>
          <p:cNvPr name="Group 17" id="17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6291173" y="8674011"/>
            <a:ext cx="968127" cy="102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7689" y="1983947"/>
            <a:ext cx="10329387" cy="125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6"/>
              </a:lnSpc>
            </a:pPr>
            <a:r>
              <a:rPr lang="en-US" b="true" sz="7212" spc="5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</a:t>
            </a:r>
            <a:r>
              <a:rPr lang="en-US" b="true" sz="7212" spc="5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ROPOSED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4509" y="3955048"/>
            <a:ext cx="11056664" cy="462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Bl</a:t>
            </a: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ockFund uses blockchain technology to solve these issues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Smart contracts ensure: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Funds are locked securely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Rul</a:t>
            </a: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es are enforced automatically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Every transaction is: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Transparent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Immutable (cannot be changed)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No need for third-party control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2611480"/>
            <a:ext cx="12979661" cy="5993930"/>
          </a:xfrm>
          <a:custGeom>
            <a:avLst/>
            <a:gdLst/>
            <a:ahLst/>
            <a:cxnLst/>
            <a:rect r="r" b="b" t="t" l="l"/>
            <a:pathLst>
              <a:path h="5993930" w="12979661">
                <a:moveTo>
                  <a:pt x="0" y="0"/>
                </a:moveTo>
                <a:lnTo>
                  <a:pt x="12979661" y="0"/>
                </a:lnTo>
                <a:lnTo>
                  <a:pt x="12979661" y="5993930"/>
                </a:lnTo>
                <a:lnTo>
                  <a:pt x="0" y="599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819150"/>
            <a:ext cx="10432071" cy="15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6"/>
              </a:lnSpc>
            </a:pP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LANDING PAGE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3095766"/>
            <a:ext cx="12539442" cy="5721120"/>
          </a:xfrm>
          <a:custGeom>
            <a:avLst/>
            <a:gdLst/>
            <a:ahLst/>
            <a:cxnLst/>
            <a:rect r="r" b="b" t="t" l="l"/>
            <a:pathLst>
              <a:path h="5721120" w="12539442">
                <a:moveTo>
                  <a:pt x="0" y="0"/>
                </a:moveTo>
                <a:lnTo>
                  <a:pt x="12539442" y="0"/>
                </a:lnTo>
                <a:lnTo>
                  <a:pt x="12539442" y="5721120"/>
                </a:lnTo>
                <a:lnTo>
                  <a:pt x="0" y="5721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300698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819150"/>
            <a:ext cx="10432071" cy="15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6"/>
              </a:lnSpc>
            </a:pP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LOGIN PAGE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2491307"/>
            <a:ext cx="13100883" cy="6042782"/>
          </a:xfrm>
          <a:custGeom>
            <a:avLst/>
            <a:gdLst/>
            <a:ahLst/>
            <a:cxnLst/>
            <a:rect r="r" b="b" t="t" l="l"/>
            <a:pathLst>
              <a:path h="6042782" w="13100883">
                <a:moveTo>
                  <a:pt x="0" y="0"/>
                </a:moveTo>
                <a:lnTo>
                  <a:pt x="13100884" y="0"/>
                </a:lnTo>
                <a:lnTo>
                  <a:pt x="13100884" y="6042783"/>
                </a:lnTo>
                <a:lnTo>
                  <a:pt x="0" y="604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819150"/>
            <a:ext cx="10432071" cy="158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6"/>
              </a:lnSpc>
            </a:pP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2849911"/>
            <a:ext cx="12797803" cy="5966976"/>
          </a:xfrm>
          <a:custGeom>
            <a:avLst/>
            <a:gdLst/>
            <a:ahLst/>
            <a:cxnLst/>
            <a:rect r="r" b="b" t="t" l="l"/>
            <a:pathLst>
              <a:path h="5966976" w="12797803">
                <a:moveTo>
                  <a:pt x="0" y="0"/>
                </a:moveTo>
                <a:lnTo>
                  <a:pt x="12797803" y="0"/>
                </a:lnTo>
                <a:lnTo>
                  <a:pt x="12797803" y="5966975"/>
                </a:lnTo>
                <a:lnTo>
                  <a:pt x="0" y="596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94673"/>
            <a:ext cx="10877950" cy="285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56"/>
              </a:lnSpc>
            </a:pPr>
            <a:r>
              <a:rPr lang="en-US" b="true" sz="8111" spc="56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CAMPAIGN DETAILS PAGE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3054813"/>
            <a:ext cx="12424956" cy="5762073"/>
          </a:xfrm>
          <a:custGeom>
            <a:avLst/>
            <a:gdLst/>
            <a:ahLst/>
            <a:cxnLst/>
            <a:rect r="r" b="b" t="t" l="l"/>
            <a:pathLst>
              <a:path h="5762073" w="12424956">
                <a:moveTo>
                  <a:pt x="0" y="0"/>
                </a:moveTo>
                <a:lnTo>
                  <a:pt x="12424956" y="0"/>
                </a:lnTo>
                <a:lnTo>
                  <a:pt x="12424956" y="5762073"/>
                </a:lnTo>
                <a:lnTo>
                  <a:pt x="0" y="576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264927"/>
            <a:ext cx="11301259" cy="278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6"/>
              </a:lnSpc>
            </a:pPr>
            <a:r>
              <a:rPr lang="en-US" b="true" sz="7911" spc="55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CREATE CAMPAIGN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3054813"/>
            <a:ext cx="12458537" cy="5762073"/>
          </a:xfrm>
          <a:custGeom>
            <a:avLst/>
            <a:gdLst/>
            <a:ahLst/>
            <a:cxnLst/>
            <a:rect r="r" b="b" t="t" l="l"/>
            <a:pathLst>
              <a:path h="5762073" w="12458537">
                <a:moveTo>
                  <a:pt x="0" y="0"/>
                </a:moveTo>
                <a:lnTo>
                  <a:pt x="12458537" y="0"/>
                </a:lnTo>
                <a:lnTo>
                  <a:pt x="12458537" y="5762073"/>
                </a:lnTo>
                <a:lnTo>
                  <a:pt x="0" y="576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264927"/>
            <a:ext cx="11301259" cy="278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6"/>
              </a:lnSpc>
            </a:pPr>
            <a:r>
              <a:rPr lang="en-US" b="true" sz="7911" spc="55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TRANSACTION / CONTRIBUTION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655816" y="3054813"/>
            <a:ext cx="12358334" cy="5762073"/>
          </a:xfrm>
          <a:custGeom>
            <a:avLst/>
            <a:gdLst/>
            <a:ahLst/>
            <a:cxnLst/>
            <a:rect r="r" b="b" t="t" l="l"/>
            <a:pathLst>
              <a:path h="5762073" w="12358334">
                <a:moveTo>
                  <a:pt x="0" y="0"/>
                </a:moveTo>
                <a:lnTo>
                  <a:pt x="12358335" y="0"/>
                </a:lnTo>
                <a:lnTo>
                  <a:pt x="12358335" y="5762073"/>
                </a:lnTo>
                <a:lnTo>
                  <a:pt x="0" y="576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55816" y="264927"/>
            <a:ext cx="11301259" cy="278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6"/>
              </a:lnSpc>
            </a:pPr>
            <a:r>
              <a:rPr lang="en-US" b="true" sz="7911" spc="55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AFTER TRANSACTION PAGE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35931" y="-24854"/>
            <a:ext cx="10329387" cy="318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6"/>
              </a:lnSpc>
            </a:pP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ADVANT</a:t>
            </a: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AGES &amp; USE CASES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35931" y="3719433"/>
            <a:ext cx="6470481" cy="4421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3832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Advantag</a:t>
            </a:r>
            <a:r>
              <a:rPr lang="en-US" sz="3832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es:</a:t>
            </a:r>
          </a:p>
          <a:p>
            <a:pPr algn="l" marL="827427" indent="-413714" lvl="1">
              <a:lnSpc>
                <a:spcPts val="3832"/>
              </a:lnSpc>
              <a:buFont typeface="Arial"/>
              <a:buChar char="•"/>
            </a:pP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Eliminates intermediaries</a:t>
            </a:r>
          </a:p>
          <a:p>
            <a:pPr algn="l" marL="827427" indent="-413714" lvl="1">
              <a:lnSpc>
                <a:spcPts val="3832"/>
              </a:lnSpc>
              <a:buFont typeface="Arial"/>
              <a:buChar char="•"/>
            </a:pP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High security and data integrity</a:t>
            </a:r>
          </a:p>
          <a:p>
            <a:pPr algn="l" marL="827427" indent="-413714" lvl="1">
              <a:lnSpc>
                <a:spcPts val="3832"/>
              </a:lnSpc>
              <a:buFont typeface="Arial"/>
              <a:buChar char="•"/>
            </a:pP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Transparent and tamper-proof</a:t>
            </a:r>
          </a:p>
          <a:p>
            <a:pPr algn="l" marL="827427" indent="-413714" lvl="1">
              <a:lnSpc>
                <a:spcPts val="3832"/>
              </a:lnSpc>
              <a:buFont typeface="Arial"/>
              <a:buChar char="•"/>
            </a:pP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Global accessibility</a:t>
            </a:r>
          </a:p>
          <a:p>
            <a:pPr algn="l" marL="827427" indent="-413714" lvl="1">
              <a:lnSpc>
                <a:spcPts val="3832"/>
              </a:lnSpc>
              <a:buFont typeface="Arial"/>
              <a:buChar char="•"/>
            </a:pP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Trustl</a:t>
            </a:r>
            <a:r>
              <a:rPr lang="en-US" sz="38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ess environment</a:t>
            </a:r>
          </a:p>
          <a:p>
            <a:pPr algn="l">
              <a:lnSpc>
                <a:spcPts val="383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206412" y="3709908"/>
            <a:ext cx="5568824" cy="332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732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Us</a:t>
            </a:r>
            <a:r>
              <a:rPr lang="en-US" sz="3732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e Cases:</a:t>
            </a:r>
          </a:p>
          <a:p>
            <a:pPr algn="l" marL="805838" indent="-402919" lvl="1">
              <a:lnSpc>
                <a:spcPts val="3732"/>
              </a:lnSpc>
              <a:buFont typeface="Arial"/>
              <a:buChar char="•"/>
            </a:pPr>
            <a:r>
              <a:rPr lang="en-US" sz="37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Startup fundraising</a:t>
            </a:r>
          </a:p>
          <a:p>
            <a:pPr algn="l" marL="805838" indent="-402919" lvl="1">
              <a:lnSpc>
                <a:spcPts val="3732"/>
              </a:lnSpc>
              <a:buFont typeface="Arial"/>
              <a:buChar char="•"/>
            </a:pPr>
            <a:r>
              <a:rPr lang="en-US" sz="37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Charity and donations</a:t>
            </a:r>
          </a:p>
          <a:p>
            <a:pPr algn="l" marL="805838" indent="-402919" lvl="1">
              <a:lnSpc>
                <a:spcPts val="3732"/>
              </a:lnSpc>
              <a:buFont typeface="Arial"/>
              <a:buChar char="•"/>
            </a:pPr>
            <a:r>
              <a:rPr lang="en-US" sz="37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Disaster relief fund</a:t>
            </a:r>
            <a:r>
              <a:rPr lang="en-US" sz="37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ing</a:t>
            </a:r>
          </a:p>
          <a:p>
            <a:pPr algn="l" marL="805838" indent="-402919" lvl="1">
              <a:lnSpc>
                <a:spcPts val="3732"/>
              </a:lnSpc>
              <a:buFont typeface="Arial"/>
              <a:buChar char="•"/>
            </a:pPr>
            <a:r>
              <a:rPr lang="en-US" sz="37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Community-driven projects</a:t>
            </a:r>
          </a:p>
          <a:p>
            <a:pPr algn="l">
              <a:lnSpc>
                <a:spcPts val="3732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27689" y="1936322"/>
            <a:ext cx="10329387" cy="158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6"/>
              </a:lnSpc>
            </a:pPr>
            <a:r>
              <a:rPr lang="en-US" b="true" sz="9011" spc="63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27689" y="3821398"/>
            <a:ext cx="10329387" cy="518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Bl</a:t>
            </a: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ockFund leverages blockchain to improve c</a:t>
            </a: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rowdfunding</a:t>
            </a:r>
          </a:p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Smart contracts ensure fairness and automation</a:t>
            </a:r>
          </a:p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Provides a transparent and secure funding ecosystem</a:t>
            </a:r>
          </a:p>
          <a:p>
            <a:pPr algn="l">
              <a:lnSpc>
                <a:spcPts val="3699"/>
              </a:lnSpc>
            </a:pPr>
            <a:r>
              <a:rPr lang="en-US" b="true" sz="3699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Future Scope:</a:t>
            </a:r>
          </a:p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</a:p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Multi-chain integration</a:t>
            </a:r>
          </a:p>
          <a:p>
            <a:pPr algn="l" marL="798829" indent="-399415" lvl="1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AI-based fraud detection</a:t>
            </a:r>
          </a:p>
          <a:p>
            <a:pPr algn="l">
              <a:lnSpc>
                <a:spcPts val="3699"/>
              </a:lnSpc>
            </a:pPr>
          </a:p>
        </p:txBody>
      </p:sp>
      <p:sp>
        <p:nvSpPr>
          <p:cNvPr name="AutoShape 14" id="14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6291173" y="8674011"/>
            <a:ext cx="968127" cy="10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 spc="4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11</a:t>
            </a:r>
          </a:p>
        </p:txBody>
      </p:sp>
      <p:grpSp>
        <p:nvGrpSpPr>
          <p:cNvPr name="Group 16" id="16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32672" y="3972757"/>
            <a:ext cx="13022655" cy="206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85"/>
              </a:lnSpc>
            </a:pPr>
            <a:r>
              <a:rPr lang="en-US" b="true" sz="11775" spc="8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0826" y="1172036"/>
            <a:ext cx="3593901" cy="45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</a:pPr>
            <a:r>
              <a:rPr lang="en-US" sz="3257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2nd May,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DAHIJa5zMdI</dc:identifier>
  <dcterms:modified xsi:type="dcterms:W3CDTF">2011-08-01T06:04:30Z</dcterms:modified>
  <cp:revision>1</cp:revision>
  <dc:title>BCT_MP</dc:title>
</cp:coreProperties>
</file>